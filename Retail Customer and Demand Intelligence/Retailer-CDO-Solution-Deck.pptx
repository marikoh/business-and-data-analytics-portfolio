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4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1A3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C4A265"/>
                </a:solidFill>
                <a:latin typeface="Calibri"/>
              </a:rPr>
              <a:t>OFFICE OF THE CHIEF DATA OFFICER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23774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Georgia"/>
              </a:rPr>
              <a:t>Grow margin by knowing,</a:t>
            </a:r>
          </a:p>
          <a:p>
            <a:pPr algn="l"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Georgia"/>
              </a:rPr>
              <a:t>keeping &amp; growing</a:t>
            </a:r>
          </a:p>
          <a:p>
            <a:pPr algn="l"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Georgia"/>
              </a:rPr>
              <a:t>your best customers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10972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D7E3DA"/>
                </a:solidFill>
                <a:latin typeface="Calibri"/>
              </a:rPr>
              <a:t>A customer &amp; demand intelligence capability that turns transaction data into profit — with every play proven by experiment.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9CDC0"/>
                </a:solidFill>
                <a:latin typeface="Calibri"/>
              </a:rPr>
              <a:t>Retail customer-intelligence solution · outcome-focused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14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FA87C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214E34"/>
                </a:solidFill>
                <a:latin typeface="Georgia"/>
              </a:rPr>
              <a:t>Before: flying without instruments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5394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84832"/>
            <a:ext cx="493776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B85042"/>
                </a:solidFill>
                <a:latin typeface="Calibri"/>
              </a:rPr>
              <a:t>No customer view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6B6B"/>
                </a:solidFill>
                <a:latin typeface="Calibri"/>
              </a:rPr>
              <a:t>every shopper treated alike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920240"/>
            <a:ext cx="5394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084832"/>
            <a:ext cx="493776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B85042"/>
                </a:solidFill>
                <a:latin typeface="Calibri"/>
              </a:rPr>
              <a:t>Churn found too late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6B6B"/>
                </a:solidFill>
                <a:latin typeface="Calibri"/>
              </a:rPr>
              <a:t>noticed only after they've gone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91840"/>
            <a:ext cx="5394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456432"/>
            <a:ext cx="493776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B85042"/>
                </a:solidFill>
                <a:latin typeface="Calibri"/>
              </a:rPr>
              <a:t>Marketing by gut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6B6B"/>
                </a:solidFill>
                <a:latin typeface="Calibri"/>
              </a:rPr>
              <a:t>blanket discounts erode margin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3291840"/>
            <a:ext cx="5394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456432"/>
            <a:ext cx="493776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B85042"/>
                </a:solidFill>
                <a:latin typeface="Calibri"/>
              </a:rPr>
              <a:t>Generic cross-sell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6B6B"/>
                </a:solidFill>
                <a:latin typeface="Calibri"/>
              </a:rPr>
              <a:t>no 'what to offer next'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663440"/>
            <a:ext cx="5394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828032"/>
            <a:ext cx="493776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B85042"/>
                </a:solidFill>
                <a:latin typeface="Calibri"/>
              </a:rPr>
              <a:t>Reactive inventory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6B6B"/>
                </a:solidFill>
                <a:latin typeface="Calibri"/>
              </a:rPr>
              <a:t>stockouts lose sale + basket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4663440"/>
            <a:ext cx="5394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4828032"/>
            <a:ext cx="493776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B85042"/>
                </a:solidFill>
                <a:latin typeface="Calibri"/>
              </a:rPr>
              <a:t>13% revenue invisible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6B6B"/>
                </a:solidFill>
                <a:latin typeface="Calibri"/>
              </a:rPr>
              <a:t>guest sales untracked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14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FA87C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214E34"/>
                </a:solidFill>
                <a:latin typeface="Georgia"/>
              </a:rPr>
              <a:t>One capability, three questions answered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3520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3520440" cy="640080"/>
          </a:xfrm>
          <a:prstGeom prst="rect">
            <a:avLst/>
          </a:prstGeom>
          <a:solidFill>
            <a:srgbClr val="214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21408"/>
            <a:ext cx="35204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WHO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2971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214E34"/>
                </a:solidFill>
                <a:latin typeface="Georgia"/>
              </a:rPr>
              <a:t>Segment 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2971800" cy="12801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6 behavioural groups; 17% drive 70% of revenue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011680"/>
            <a:ext cx="3520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2011680"/>
            <a:ext cx="3520440" cy="640080"/>
          </a:xfrm>
          <a:prstGeom prst="rect">
            <a:avLst/>
          </a:prstGeom>
          <a:solidFill>
            <a:srgbClr val="214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121408"/>
            <a:ext cx="35204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WHO'S LEAVING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880360"/>
            <a:ext cx="2971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214E34"/>
                </a:solidFill>
                <a:latin typeface="Georgia"/>
              </a:rPr>
              <a:t>Spot leavers early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657600"/>
            <a:ext cx="2971800" cy="12801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flagged before they go, ranked accurately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011680"/>
            <a:ext cx="3520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011680"/>
            <a:ext cx="3520440" cy="640080"/>
          </a:xfrm>
          <a:prstGeom prst="rect">
            <a:avLst/>
          </a:prstGeom>
          <a:solidFill>
            <a:srgbClr val="214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121408"/>
            <a:ext cx="35204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WHAT TO OFFER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880360"/>
            <a:ext cx="2971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214E34"/>
                </a:solidFill>
                <a:latin typeface="Georgia"/>
              </a:rPr>
              <a:t>Recommend next product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657600"/>
            <a:ext cx="2971800" cy="12801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personalised cross-sell, ~100× better than random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440680"/>
            <a:ext cx="109728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B6B6B"/>
                </a:solidFill>
                <a:latin typeface="Calibri"/>
              </a:rPr>
              <a:t>+ a demand forecast that sets profit-optimal stock, and a £-value model that ranks every lever.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14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FA87C"/>
                </a:solidFill>
                <a:latin typeface="Calibri"/>
              </a:rPr>
              <a:t>BEFORE  → 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214E34"/>
                </a:solidFill>
                <a:latin typeface="Georgia"/>
              </a:rPr>
              <a:t>What changes when data leads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6B6B6B"/>
                </a:solidFill>
                <a:latin typeface="Calibri"/>
              </a:rPr>
              <a:t>CAPABILITY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783080"/>
            <a:ext cx="33832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B85042"/>
                </a:solidFill>
                <a:latin typeface="Calibri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783080"/>
            <a:ext cx="38404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14E34"/>
                </a:solidFill>
                <a:latin typeface="Calibri"/>
              </a:rPr>
              <a:t>AFTER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11155680" cy="658368"/>
          </a:xfrm>
          <a:prstGeom prst="rect">
            <a:avLst/>
          </a:prstGeom>
          <a:solidFill>
            <a:srgbClr val="EE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36576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2B2B2B"/>
                </a:solidFill>
                <a:latin typeface="Calibri"/>
              </a:rPr>
              <a:t>Customer understanding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286000"/>
            <a:ext cx="33832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6B6B"/>
                </a:solidFill>
                <a:latin typeface="Calibri"/>
              </a:rPr>
              <a:t>One-size-fits-all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286000"/>
            <a:ext cx="38404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14E34"/>
                </a:solidFill>
                <a:latin typeface="Calibri"/>
              </a:rPr>
              <a:t>6 segments, prioritised by profit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99231"/>
            <a:ext cx="36576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2B2B2B"/>
                </a:solidFill>
                <a:latin typeface="Calibri"/>
              </a:rPr>
              <a:t>Churn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1"/>
            <a:ext cx="33832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6B6B"/>
                </a:solidFill>
                <a:latin typeface="Calibri"/>
              </a:rPr>
              <a:t>Found after they leave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999231"/>
            <a:ext cx="38404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14E34"/>
                </a:solidFill>
                <a:latin typeface="Calibri"/>
              </a:rPr>
              <a:t>Scored early — 250-name, £0.7M rescue list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21024"/>
            <a:ext cx="11155680" cy="658368"/>
          </a:xfrm>
          <a:prstGeom prst="rect">
            <a:avLst/>
          </a:prstGeom>
          <a:solidFill>
            <a:srgbClr val="EE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12464"/>
            <a:ext cx="36576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2B2B2B"/>
                </a:solidFill>
                <a:latin typeface="Calibri"/>
              </a:rPr>
              <a:t>Marketing spend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712464"/>
            <a:ext cx="33832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6B6B"/>
                </a:solidFill>
                <a:latin typeface="Calibri"/>
              </a:rPr>
              <a:t>Blanket, gut-led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712464"/>
            <a:ext cx="38404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14E34"/>
                </a:solidFill>
                <a:latin typeface="Calibri"/>
              </a:rPr>
              <a:t>Profit-thresholded + proven by control group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25696"/>
            <a:ext cx="36576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2B2B2B"/>
                </a:solidFill>
                <a:latin typeface="Calibri"/>
              </a:rPr>
              <a:t>Cross-sell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425696"/>
            <a:ext cx="33832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6B6B"/>
                </a:solidFill>
                <a:latin typeface="Calibri"/>
              </a:rPr>
              <a:t>Generic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425696"/>
            <a:ext cx="38404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14E34"/>
                </a:solidFill>
                <a:latin typeface="Calibri"/>
              </a:rPr>
              <a:t>Personalised next-best product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47488"/>
            <a:ext cx="11155680" cy="658368"/>
          </a:xfrm>
          <a:prstGeom prst="rect">
            <a:avLst/>
          </a:prstGeom>
          <a:solidFill>
            <a:srgbClr val="EE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138928"/>
            <a:ext cx="36576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2B2B2B"/>
                </a:solidFill>
                <a:latin typeface="Calibri"/>
              </a:rPr>
              <a:t>Inventory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138928"/>
            <a:ext cx="33832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6B6B"/>
                </a:solidFill>
                <a:latin typeface="Calibri"/>
              </a:rPr>
              <a:t>Reactive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5138928"/>
            <a:ext cx="38404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14E34"/>
                </a:solidFill>
                <a:latin typeface="Calibri"/>
              </a:rPr>
              <a:t>Forecast + margin-aware stocking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852160"/>
            <a:ext cx="36576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2B2B2B"/>
                </a:solidFill>
                <a:latin typeface="Calibri"/>
              </a:rPr>
              <a:t>Guest revenue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852160"/>
            <a:ext cx="33832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6B6B"/>
                </a:solidFill>
                <a:latin typeface="Calibri"/>
              </a:rPr>
              <a:t>13% invisible (£2.6M)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5852160"/>
            <a:ext cx="38404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14E34"/>
                </a:solidFill>
                <a:latin typeface="Calibri"/>
              </a:rPr>
              <a:t>Sized &amp; converted via loyalty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14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FA87C"/>
                </a:solidFill>
                <a:latin typeface="Calibri"/>
              </a:rPr>
              <a:t>THE PLAYS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214E34"/>
                </a:solidFill>
                <a:latin typeface="Georgia"/>
              </a:rPr>
              <a:t>Where the money is: Protect · Rescue · Grow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114800" cy="43891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PROTECT — 70% of revenue, ~2% churn. Defend with loyalty &amp; service, not discounts.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RESCUE — 250 high-value lapsing, ~£0.7M at risk. One-time win-back, proven by control.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GROW — 1,545 mid-tier with headroom. Cross-sell to lift ARPU at the profit-optimal threshold.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Loyalty also converts the £2.6M anonymous Non-Member base into tracked members.</a:t>
            </a:r>
          </a:p>
        </p:txBody>
      </p:sp>
      <p:pic>
        <p:nvPicPr>
          <p:cNvPr id="7" name="Picture 6" descr="seg_busines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532888"/>
            <a:ext cx="6766560" cy="2706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37760" y="6172200"/>
            <a:ext cx="67665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6B6B6B"/>
                </a:solidFill>
                <a:latin typeface="Calibri"/>
              </a:rPr>
              <a:t>Segments by revenue and by value/risk.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14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FA87C"/>
                </a:solidFill>
                <a:latin typeface="Calibri"/>
              </a:rPr>
              <a:t>THE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214E34"/>
                </a:solidFill>
                <a:latin typeface="Georgia"/>
              </a:rPr>
              <a:t>Levers priced — and proven before we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114800" cy="43891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Estimated ≈ £82k/yr incremental profit (base), scaling linearly with revenue.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Retention is the single biggest lever.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Transparent assumptions + sensitivity (margin, uplift).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Each play runs behind a holdout control — we measure lift, not assume it.</a:t>
            </a:r>
          </a:p>
        </p:txBody>
      </p:sp>
      <p:pic>
        <p:nvPicPr>
          <p:cNvPr id="7" name="Picture 6" descr="value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025396"/>
            <a:ext cx="6766560" cy="37216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14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FA87C"/>
                </a:solidFill>
                <a:latin typeface="Calibri"/>
              </a:rPr>
              <a:t>HOW I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214E34"/>
                </a:solidFill>
                <a:latin typeface="Georgia"/>
              </a:rPr>
              <a:t>Honest, business-first, evidence-led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4023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Business leads, technology serves — every model maps to a profit decision.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Money on the metrics — results in £, not just model scores.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Proven, not promised — controlled experiments before spending at scale.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Candid about limits — assumptions stated, simple baselines respected.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Reproducible — clean code, a warehouse, and documentation that doesn't drift.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4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What I can do for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241280" cy="2743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D7E3DA"/>
                </a:solidFill>
                <a:latin typeface="Calibri"/>
              </a:rPr>
              <a:t>Stand up customer segmentation, churn early-warning, and cross-sell engines.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D7E3DA"/>
                </a:solidFill>
                <a:latin typeface="Calibri"/>
              </a:rPr>
              <a:t>Turn your transaction data into ranked, costed, experiment-backed growth plays.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D7E3DA"/>
                </a:solidFill>
                <a:latin typeface="Calibri"/>
              </a:rPr>
              <a:t>Deliver it reproducibly — warehouse, models, and an executive narrative leaders trust.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9CDC0"/>
                </a:solidFill>
                <a:latin typeface="Calibri"/>
              </a:rPr>
              <a:t>Let's talk about your data → profit roadmap.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